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structural problem, not a seasonal one — the rate has held steady across the full analysis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note: this analysis moved the project from an abstract "target high-risk patients" goal to a sized, evidence-backed segment PM can plan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FB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ANALYSTLAB AFRICA · HEALTHCONNECT EXPERIENCE LAB · 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037080"/>
            <a:ext cx="9156700" cy="2105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dirty="0">
                <a:solidFill>
                  <a:srgbClr val="F7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Analytics</a:t>
            </a:r>
            <a:endParaRPr lang="en-US" sz="5200" dirty="0"/>
          </a:p>
          <a:p>
            <a:pPr algn="l" indent="0" marL="0">
              <a:lnSpc>
                <a:spcPts val="5460"/>
              </a:lnSpc>
              <a:buNone/>
            </a:pPr>
            <a:r>
              <a:rPr lang="en-US" sz="5200" dirty="0">
                <a:solidFill>
                  <a:srgbClr val="E0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Findings &amp; Decision Support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269740"/>
            <a:ext cx="85026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HealthConnect Clinic loses over half its appointment capacity to no-shows — and what to do about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5814060"/>
            <a:ext cx="444222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Oluwatosin Olusanya  ·  Data Analyst, Data Analytics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98171" y="5814060"/>
            <a:ext cx="19374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FB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HC-POD Final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12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problem, in one number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35760"/>
            <a:ext cx="4767943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0"/>
              </a:lnSpc>
              <a:buNone/>
            </a:pPr>
            <a:r>
              <a:rPr lang="en-US" sz="14000" dirty="0">
                <a:solidFill>
                  <a:srgbClr val="E0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51.2%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949871" y="1678940"/>
            <a:ext cx="4970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scheduled appointments end in a no-show — 2,423 of 4,737 definitive-outcome appointments.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9871" y="2374900"/>
            <a:ext cx="4970780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Confirmed, independently re-validated, and statistically tested across 8 weeks of analysis. Two factors drive it overwhelmingly: booking lead time and a patient's own no-show history.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38241"/>
            <a:ext cx="47959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HealthConnect Final Analytics &amp; Decision Support Package · Week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12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validated KPIs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44321"/>
          <a:ext cx="10556240" cy="404876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5207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value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3A"/>
                    </a:solidFill>
                  </a:tcPr>
                </a:tc>
              </a:tr>
              <a:tr h="7518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no-show 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2,423 of 4,737 appointments; reproduced exactly in Week 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18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No-show rate by lead time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26.6% → 63.9%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0-3 days vs 30+ days booked ahead; χ²=340.42, p&lt;0.001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 no-show 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46.3% → 70.3%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vs 3+ prior no-shows; χ²=72.36, p&lt;0.001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18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Reminder effectiveness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 – 6.5 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Improvement varies by risk segment; largest for at-risk patients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</a:tr>
              <a:tr h="7518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 risk segmentation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08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28.0% → 63.6%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Lowest-risk (715 appts) vs highest-risk (1,529 appts) segment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0"/>
              </a:lnSpc>
              <a:buNone/>
            </a:pPr>
            <a:r>
              <a:rPr lang="en-US" sz="2930" dirty="0">
                <a:solidFill>
                  <a:srgbClr val="F7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strongest drivers</a:t>
            </a:r>
            <a:endParaRPr lang="en-US" sz="2930" dirty="0"/>
          </a:p>
        </p:txBody>
      </p:sp>
      <p:sp>
        <p:nvSpPr>
          <p:cNvPr id="3" name="Shape 1"/>
          <p:cNvSpPr/>
          <p:nvPr/>
        </p:nvSpPr>
        <p:spPr>
          <a:xfrm>
            <a:off x="812800" y="1493441"/>
            <a:ext cx="5130800" cy="3867309"/>
          </a:xfrm>
          <a:prstGeom prst="roundRect">
            <a:avLst>
              <a:gd name="adj" fmla="val 2627"/>
            </a:avLst>
          </a:prstGeom>
          <a:solidFill>
            <a:srgbClr val="FFFFFF"/>
          </a:solidFill>
          <a:ln/>
        </p:spPr>
      </p:sp>
      <p:pic>
        <p:nvPicPr>
          <p:cNvPr id="4" name="Image 0" descr="No-show rate by booking lead time">    </p:cNvPr>
          <p:cNvPicPr>
            <a:picLocks noChangeAspect="1"/>
          </p:cNvPicPr>
          <p:nvPr/>
        </p:nvPicPr>
        <p:blipFill>
          <a:blip r:embed="rId1"/>
          <a:srcRect l="-8547" r="-8547" t="0" b="0"/>
          <a:stretch/>
        </p:blipFill>
        <p:spPr>
          <a:xfrm>
            <a:off x="1016000" y="1696641"/>
            <a:ext cx="4876800" cy="2974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6000" y="4773137"/>
            <a:ext cx="4866132" cy="409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7"/>
              </a:lnSpc>
              <a:buNone/>
            </a:pPr>
            <a:r>
              <a:rPr lang="en-US" sz="1155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lead time — the strongest individual driver (χ²=340.42, p&lt;0.001)</a:t>
            </a:r>
            <a:endParaRPr lang="en-US" sz="1155" dirty="0"/>
          </a:p>
        </p:txBody>
      </p:sp>
      <p:sp>
        <p:nvSpPr>
          <p:cNvPr id="6" name="Shape 3"/>
          <p:cNvSpPr/>
          <p:nvPr/>
        </p:nvSpPr>
        <p:spPr>
          <a:xfrm>
            <a:off x="6248400" y="1493441"/>
            <a:ext cx="5130800" cy="3867309"/>
          </a:xfrm>
          <a:prstGeom prst="roundRect">
            <a:avLst>
              <a:gd name="adj" fmla="val 2627"/>
            </a:avLst>
          </a:prstGeom>
          <a:solidFill>
            <a:srgbClr val="FFFFFF"/>
          </a:solidFill>
          <a:ln/>
        </p:spPr>
      </p:sp>
      <p:pic>
        <p:nvPicPr>
          <p:cNvPr id="7" name="Image 1" descr="No-show rate by prior no-show count">    </p:cNvPr>
          <p:cNvPicPr>
            <a:picLocks noChangeAspect="1"/>
          </p:cNvPicPr>
          <p:nvPr/>
        </p:nvPicPr>
        <p:blipFill>
          <a:blip r:embed="rId2"/>
          <a:srcRect l="-8547" r="-8547" t="0" b="0"/>
          <a:stretch/>
        </p:blipFill>
        <p:spPr>
          <a:xfrm>
            <a:off x="6451600" y="1696641"/>
            <a:ext cx="4876800" cy="2974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51600" y="4773137"/>
            <a:ext cx="4866132" cy="409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43"/>
              </a:lnSpc>
              <a:buNone/>
            </a:pPr>
            <a:r>
              <a:rPr lang="en-US" sz="1174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no-show count — the second-strongest driver (χ²=72.36, p&lt;0.001)</a:t>
            </a:r>
            <a:endParaRPr lang="en-US" sz="1174" dirty="0"/>
          </a:p>
        </p:txBody>
      </p:sp>
      <p:sp>
        <p:nvSpPr>
          <p:cNvPr id="9" name="Text 5"/>
          <p:cNvSpPr/>
          <p:nvPr/>
        </p:nvSpPr>
        <p:spPr>
          <a:xfrm>
            <a:off x="812800" y="5614749"/>
            <a:ext cx="10883392" cy="252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9"/>
              </a:lnSpc>
              <a:buNone/>
            </a:pPr>
            <a:r>
              <a:rPr lang="en-US" sz="1299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factors combine additively, not synergistically (interaction p=0.50) — each can be addressed independently.</a:t>
            </a:r>
            <a:endParaRPr lang="en-US" sz="129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187450"/>
            <a:ext cx="5283200" cy="4279900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/>
        </p:spPr>
      </p:sp>
      <p:pic>
        <p:nvPicPr>
          <p:cNvPr id="3" name="Image 0" descr="Combined risk segmentation matrix">    </p:cNvPr>
          <p:cNvPicPr>
            <a:picLocks noChangeAspect="1"/>
          </p:cNvPicPr>
          <p:nvPr/>
        </p:nvPicPr>
        <p:blipFill>
          <a:blip r:embed="rId1"/>
          <a:srcRect l="0" r="0" t="-63" b="-63"/>
          <a:stretch/>
        </p:blipFill>
        <p:spPr>
          <a:xfrm>
            <a:off x="1016000" y="1390650"/>
            <a:ext cx="4572000" cy="387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02400" y="1783714"/>
            <a:ext cx="5023104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>
                <a:solidFill>
                  <a:srgbClr val="12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targetable group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502400" y="2399664"/>
            <a:ext cx="5023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lead time and prior no-show history isolates a clear highest-risk segment: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02400" y="3146425"/>
            <a:ext cx="4876800" cy="1297940"/>
          </a:xfrm>
          <a:prstGeom prst="roundRect">
            <a:avLst>
              <a:gd name="adj" fmla="val 7828"/>
            </a:avLst>
          </a:prstGeom>
          <a:solidFill>
            <a:srgbClr val="122A3A"/>
          </a:solidFill>
          <a:ln/>
        </p:spPr>
      </p:sp>
      <p:sp>
        <p:nvSpPr>
          <p:cNvPr id="7" name="Text 4"/>
          <p:cNvSpPr/>
          <p:nvPr/>
        </p:nvSpPr>
        <p:spPr>
          <a:xfrm>
            <a:off x="6705600" y="3349625"/>
            <a:ext cx="460451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63.6%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705600" y="4010025"/>
            <a:ext cx="460451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 rate — 1,529 appointments, 1,035 patients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02400" y="4622164"/>
            <a:ext cx="502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28.0% in the lowest-risk segment (715 appointments)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12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patterns to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08761"/>
            <a:ext cx="528472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1400" y="1854200"/>
            <a:ext cx="504926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1 in 2 appointments is missed — a structural problem, not a seasonal one</a:t>
            </a:r>
            <a:endParaRPr lang="en-US" sz="1300" dirty="0"/>
          </a:p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1,529 appointments (1,035 patients) carry a disproportionate share of risk and are directly targetable</a:t>
            </a:r>
            <a:endParaRPr lang="en-US" sz="1300" dirty="0"/>
          </a:p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help modestly, but least where risk is already low — not a standalone fix</a:t>
            </a:r>
            <a:endParaRPr lang="en-US" sz="1300" dirty="0"/>
          </a:p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Under-25 and over-65 patients need a different intervention; lead time matters less for them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48400" y="1508761"/>
            <a:ext cx="528472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8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77000" y="1854200"/>
            <a:ext cx="5049266" cy="2254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the 1,529-appointment highest-risk segment to confirmation calls or double-booking</a:t>
            </a:r>
            <a:endParaRPr lang="en-US" sz="1300" dirty="0"/>
          </a:p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Shorten the default booking window, or require re-confirmation past 14 days out</a:t>
            </a:r>
            <a:endParaRPr lang="en-US" sz="1300" dirty="0"/>
          </a:p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distinct outreach for under-25 and over-65 patients</a:t>
            </a:r>
            <a:endParaRPr lang="en-US" sz="1300" dirty="0"/>
          </a:p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SMS reminders as a baseline, prioritized by channel performance</a:t>
            </a:r>
            <a:endParaRPr lang="en-US" sz="1300" dirty="0"/>
          </a:p>
          <a:p>
            <a:pPr algn="l" marL="198120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2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this risk-segmentation approach as a standing quarterly review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F7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where this feeds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08761"/>
            <a:ext cx="52847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16000" y="1826261"/>
            <a:ext cx="5075428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Descriptive/associational — doesn't by itself prove causality on lead time</a:t>
            </a:r>
            <a:endParaRPr lang="en-US" sz="1200" dirty="0"/>
          </a:p>
          <a:p>
            <a:pPr algn="l" marL="182880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missing data in distance and waiting-time fields, excluded row-wise</a:t>
            </a:r>
            <a:endParaRPr lang="en-US" sz="1200" dirty="0"/>
          </a:p>
          <a:p>
            <a:pPr algn="l" marL="182880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interactive BI dashboard built; outputs are static, reproducible charts</a:t>
            </a:r>
            <a:endParaRPr lang="en-US" sz="1200" dirty="0"/>
          </a:p>
          <a:p>
            <a:pPr algn="l" marL="182880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Age-band findings directionally clear but based on moderate sample sizes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48400" y="1508761"/>
            <a:ext cx="52847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8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Cross-track contribution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51600" y="1826261"/>
            <a:ext cx="507542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Science: lead time &amp; prior no-shows confirmed as top predictive features, plus a candidate risk-segment flag</a:t>
            </a:r>
            <a:endParaRPr lang="en-US" sz="1200" dirty="0"/>
          </a:p>
          <a:p>
            <a:pPr algn="l" marL="182880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F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Management: the 1,529-appointment segment sized for staffing and confirmation-call planning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88366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here was independently re-derived, statistically tested, and stress-tested — portfolio-ready, not first-pass.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HealthConnect Data Analytics — Week 8 Final Presentation</dc:title>
  <dc:subject>PptxGenJS Presentation</dc:subject>
  <dc:creator>PptxGenJS</dc:creator>
  <cp:lastModifiedBy>PptxGenJS</cp:lastModifiedBy>
  <cp:revision>1</cp:revision>
  <dcterms:created xsi:type="dcterms:W3CDTF">2026-09-26T15:55:35Z</dcterms:created>
  <dcterms:modified xsi:type="dcterms:W3CDTF">2026-09-26T15:55:35Z</dcterms:modified>
</cp:coreProperties>
</file>