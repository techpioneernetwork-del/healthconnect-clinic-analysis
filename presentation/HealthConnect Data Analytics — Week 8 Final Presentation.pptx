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structural problem, not a seasonal one — the rate has held steady across the full analysis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note: this analysis moved the project from an abstract "target high-risk patients" goal to a sized, evidence-backed segment PM can plan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ANALYSTLAB AFRICA · HEALTHCONNECT EXPERIENCE LAB · 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037080"/>
            <a:ext cx="9156700" cy="2105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dirty="0">
                <a:solidFill>
                  <a:srgbClr val="F7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Findings &amp; Decision Support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6974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HealthConnect Clinic loses over half its appointment capacity to no-shows — and what to do about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14060"/>
            <a:ext cx="44422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Oluwatosin Olusanya  ·  Data Analyst, Data Analytics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98171" y="5814060"/>
            <a:ext cx="19374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HC-POD Final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in one number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35760"/>
            <a:ext cx="4767943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0"/>
              </a:lnSpc>
              <a:buNone/>
            </a:pPr>
            <a:r>
              <a:rPr lang="en-US" sz="14000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51.2%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949871" y="1678940"/>
            <a:ext cx="4970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scheduled appointments end in a no-show — 2,423 of 4,737 definitive-outcome appointments.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9871" y="2374900"/>
            <a:ext cx="497078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Confirmed, independently re-validated, and statistically tested across 8 weeks of analysis. Two factors drive it overwhelmingly: booking lead time and a patient's own no-show history.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41"/>
            <a:ext cx="47959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HealthConnect Final Analytics &amp; Decision Support Package · Week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validated KPIs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44321"/>
          <a:ext cx="10556240" cy="404876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520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3A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no-show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2,423 of 4,737 appointments; reproduced exactly in Week 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No-show rate by lead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26.6% → 63.9%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0-3 days vs 30+ days booked ahead; χ²=340.42, p&lt;0.001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no-show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46.3% → 70.3%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vs 3+ prior no-shows; χ²=72.36, p&lt;0.001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Reminder effectiveness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 – 6.5 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 varies by risk segment; largest for at-risk patients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risk segmentation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 → 63.6%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Lowest-risk (715 appts) vs highest-risk (1,529 appts) segment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0"/>
              </a:lnSpc>
              <a:buNone/>
            </a:pPr>
            <a:r>
              <a:rPr lang="en-US" sz="2930" dirty="0">
                <a:solidFill>
                  <a:srgbClr val="F7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strongest drivers</a:t>
            </a:r>
            <a:endParaRPr lang="en-US" sz="2930" dirty="0"/>
          </a:p>
        </p:txBody>
      </p:sp>
      <p:sp>
        <p:nvSpPr>
          <p:cNvPr id="3" name="Shape 1"/>
          <p:cNvSpPr/>
          <p:nvPr/>
        </p:nvSpPr>
        <p:spPr>
          <a:xfrm>
            <a:off x="812800" y="1493441"/>
            <a:ext cx="5130800" cy="3867309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4" name="Image 0" descr="No-show rate by booking lead time">    </p:cNvPr>
          <p:cNvPicPr>
            <a:picLocks noChangeAspect="1"/>
          </p:cNvPicPr>
          <p:nvPr/>
        </p:nvPicPr>
        <p:blipFill>
          <a:blip r:embed="rId1"/>
          <a:srcRect l="-8547" r="-8547" t="0" b="0"/>
          <a:stretch/>
        </p:blipFill>
        <p:spPr>
          <a:xfrm>
            <a:off x="1016000" y="1696641"/>
            <a:ext cx="4876800" cy="2974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" y="4773137"/>
            <a:ext cx="4866132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155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lead time — the strongest individual driver (χ²=340.42, p&lt;0.001)</a:t>
            </a:r>
            <a:endParaRPr lang="en-US" sz="1155" dirty="0"/>
          </a:p>
        </p:txBody>
      </p:sp>
      <p:sp>
        <p:nvSpPr>
          <p:cNvPr id="6" name="Shape 3"/>
          <p:cNvSpPr/>
          <p:nvPr/>
        </p:nvSpPr>
        <p:spPr>
          <a:xfrm>
            <a:off x="6248400" y="1493441"/>
            <a:ext cx="5130800" cy="3867309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7" name="Image 1" descr="No-show rate by prior no-show count">    </p:cNvPr>
          <p:cNvPicPr>
            <a:picLocks noChangeAspect="1"/>
          </p:cNvPicPr>
          <p:nvPr/>
        </p:nvPicPr>
        <p:blipFill>
          <a:blip r:embed="rId2"/>
          <a:srcRect l="-8547" r="-8547" t="0" b="0"/>
          <a:stretch/>
        </p:blipFill>
        <p:spPr>
          <a:xfrm>
            <a:off x="6451600" y="1696641"/>
            <a:ext cx="4876800" cy="2974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1600" y="4773137"/>
            <a:ext cx="4866132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3"/>
              </a:lnSpc>
              <a:buNone/>
            </a:pPr>
            <a:r>
              <a:rPr lang="en-US" sz="1174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no-show count — the second-strongest driver (χ²=72.36, p&lt;0.001)</a:t>
            </a:r>
            <a:endParaRPr lang="en-US" sz="1174" dirty="0"/>
          </a:p>
        </p:txBody>
      </p:sp>
      <p:sp>
        <p:nvSpPr>
          <p:cNvPr id="9" name="Text 5"/>
          <p:cNvSpPr/>
          <p:nvPr/>
        </p:nvSpPr>
        <p:spPr>
          <a:xfrm>
            <a:off x="812800" y="5614749"/>
            <a:ext cx="10883392" cy="252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9"/>
              </a:lnSpc>
              <a:buNone/>
            </a:pPr>
            <a:r>
              <a:rPr lang="en-US" sz="1299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factors combine additively, not synergistically (interaction p=0.50) — each can be addressed independently.</a:t>
            </a:r>
            <a:endParaRPr lang="en-US" sz="129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87450"/>
            <a:ext cx="5283200" cy="4279900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/>
        </p:spPr>
      </p:sp>
      <p:pic>
        <p:nvPicPr>
          <p:cNvPr id="3" name="Image 0" descr="Combined risk segmentation matrix">    </p:cNvPr>
          <p:cNvPicPr>
            <a:picLocks noChangeAspect="1"/>
          </p:cNvPicPr>
          <p:nvPr/>
        </p:nvPicPr>
        <p:blipFill>
          <a:blip r:embed="rId1"/>
          <a:srcRect l="0" r="0" t="-63" b="-63"/>
          <a:stretch/>
        </p:blipFill>
        <p:spPr>
          <a:xfrm>
            <a:off x="1016000" y="1390650"/>
            <a:ext cx="4572000" cy="387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02400" y="1783714"/>
            <a:ext cx="502310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targetable group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02400" y="2399664"/>
            <a:ext cx="5023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lead time and prior no-show history isolates a clear highest-risk segment: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146425"/>
            <a:ext cx="4876800" cy="1297940"/>
          </a:xfrm>
          <a:prstGeom prst="roundRect">
            <a:avLst>
              <a:gd name="adj" fmla="val 7828"/>
            </a:avLst>
          </a:prstGeom>
          <a:solidFill>
            <a:srgbClr val="122A3A"/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3349625"/>
            <a:ext cx="46045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705600" y="4010025"/>
            <a:ext cx="46045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 — 1,529 appointments, 1,035 patients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02400" y="4622164"/>
            <a:ext cx="502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28.0% in the lowest-risk segment (715 appointments)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patterns to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08761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1400" y="1854200"/>
            <a:ext cx="504926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1 in 2 appointments is missed — a structural problem, not a seasonal one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1,529 appointments (1,035 patients) carry a disproportionate share of risk and are directly targetable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help modestly, but least where risk is already low — not a standalone fix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Under-25 and over-65 patients need a different intervention; lead time matters less for them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48400" y="1508761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7000" y="1854200"/>
            <a:ext cx="5049266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the 1,529-appointment highest-risk segment to confirmation calls or double-booking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 the default booking window, or require re-confirmation past 14 days out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distinct outreach for under-25 and over-65 patients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SMS reminders as a baseline, prioritized by channel performance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this risk-segmentation approach as a standing quarterly review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F7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where this feeds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08761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16000" y="1826261"/>
            <a:ext cx="5075428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Descriptive/associational — doesn't by itself prove causality on lead time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missing data in distance and waiting-time fields, excluded row-wise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interactive BI dashboard built; outputs are static, reproducible charts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Age-band findings directionally clear but based on moderate sample sizes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48400" y="1508761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Cross-track contribution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51600" y="1826261"/>
            <a:ext cx="507542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Management: the validated drivers and the 1,529-appointment risk segment sized for staffing and confirmation-call planning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PM's integration register logged the exchange and carried it into Week 7-8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8836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here was independently re-derived, statistically tested, and stress-tested — portfolio-ready, not first-pass.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Data Analytics — Week 8 Final Presentation</dc:title>
  <dc:subject>PptxGenJS Presentation</dc:subject>
  <dc:creator>PptxGenJS</dc:creator>
  <cp:lastModifiedBy>PptxGenJS</cp:lastModifiedBy>
  <cp:revision>1</cp:revision>
  <dcterms:created xsi:type="dcterms:W3CDTF">2026-09-27T19:35:29Z</dcterms:created>
  <dcterms:modified xsi:type="dcterms:W3CDTF">2026-09-27T19:35:29Z</dcterms:modified>
</cp:coreProperties>
</file>